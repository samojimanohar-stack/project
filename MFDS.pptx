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Market Fraud Detection System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ABEDC"/>
                </a:solidFill>
              </a:defRPr>
            </a:pPr>
            <a:r>
              <a:t>A simple, kid?friendly look at how we spot risky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EDC"/>
                </a:solidFill>
              </a:defRPr>
            </a:pPr>
            <a:r>
              <a:t>By Manohar Samoji</a:t>
            </a:r>
          </a:p>
        </p:txBody>
      </p:sp>
      <p:pic>
        <p:nvPicPr>
          <p:cNvPr id="5" name="Picture 4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54864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9F0FF"/>
                </a:solidFill>
              </a:defRPr>
            </a:pPr>
            <a:r>
              <a:t>What we will see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" y="1536192"/>
            <a:ext cx="10789920" cy="43891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89920" cy="43891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Today?s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9F0FF"/>
                </a:solidFill>
              </a:defRPr>
            </a:pPr>
            <a:r>
              <a:t>1. What is fraud?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9F0FF"/>
                </a:solidFill>
              </a:defRPr>
            </a:pPr>
            <a:r>
              <a:t>2. How our system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9F0FF"/>
                </a:solidFill>
              </a:defRPr>
            </a:pPr>
            <a:r>
              <a:t>3. Data in ? scores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9F0FF"/>
                </a:solidFill>
              </a:defRPr>
            </a:pPr>
            <a:r>
              <a:t>4. Visuals and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9F0FF"/>
                </a:solidFill>
              </a:defRPr>
            </a:pPr>
            <a:r>
              <a:t>5. Admin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9F0FF"/>
                </a:solidFill>
              </a:defRPr>
            </a:pPr>
            <a:r>
              <a:t>6. Safety and reset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9F0FF"/>
                </a:solidFill>
              </a:defRPr>
            </a:pPr>
            <a:r>
              <a:t>7. Demo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What is fraud?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ABEDC"/>
                </a:solidFill>
              </a:defRPr>
            </a:pPr>
            <a:r>
              <a:t>It?s when someone tries to trick the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" y="2084832"/>
            <a:ext cx="539496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394960" cy="34747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Real customer, real purchase, safe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16752" y="2084832"/>
            <a:ext cx="539496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394960" cy="3474720"/>
          </a:xfrm>
          <a:prstGeom prst="roundRect">
            <a:avLst/>
          </a:prstGeom>
          <a:solidFill>
            <a:srgbClr val="2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Fraud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Strange patterns, fake identity, risky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A simple 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" y="1719072"/>
            <a:ext cx="10972800" cy="43891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972800" cy="43891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Imagine a toy store. One kid buys 1 toy. That?s normal.</a:t>
            </a:r>
            <a:br/>
            <a:r>
              <a:t>Another kid buys 100 toys in 1 minute using a new card. That looks suspicious.</a:t>
            </a:r>
            <a:br/>
            <a:r>
              <a:t>Our system says: ?Check this!?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Big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1" y="1993392"/>
            <a:ext cx="3474720" cy="310896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474720" cy="3108960"/>
          </a:xfrm>
          <a:prstGeom prst="roundRect">
            <a:avLst/>
          </a:prstGeom>
          <a:solidFill>
            <a:srgbClr val="0E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0574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468880"/>
            <a:ext cx="31089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CSV / PDF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1993392"/>
            <a:ext cx="3474720" cy="310896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474720" cy="3108960"/>
          </a:xfrm>
          <a:prstGeom prst="roundRect">
            <a:avLst/>
          </a:prstGeom>
          <a:solidFill>
            <a:srgbClr val="0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31089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Rules + 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2" y="1993392"/>
            <a:ext cx="3474720" cy="310896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474720" cy="3108960"/>
          </a:xfrm>
          <a:prstGeom prst="roundRect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574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310896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Fraud / Review / Normal</a:t>
            </a:r>
          </a:p>
        </p:txBody>
      </p:sp>
      <p:pic>
        <p:nvPicPr>
          <p:cNvPr id="15" name="Picture 14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54864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What data goes 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ABEDC"/>
                </a:solidFill>
              </a:defRPr>
            </a:pPr>
            <a:r>
              <a:t>We read transaction details like: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2267712"/>
            <a:ext cx="3383280" cy="146304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383280" cy="14630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Amount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267712"/>
            <a:ext cx="3383280" cy="146304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2194560"/>
            <a:ext cx="3383280" cy="14630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Country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85632" y="2267712"/>
            <a:ext cx="3383280" cy="146304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0" y="2194560"/>
            <a:ext cx="3383280" cy="14630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27432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Device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4279392"/>
            <a:ext cx="3383280" cy="146304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3383280" cy="14630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7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Velocity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5152" y="4279392"/>
            <a:ext cx="3383280" cy="146304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4206240"/>
            <a:ext cx="3383280" cy="14630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75487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Merchant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85632" y="4279392"/>
            <a:ext cx="3383280" cy="146304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4206240"/>
            <a:ext cx="3383280" cy="14630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75487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Time of 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Upload ? Score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" y="1901952"/>
            <a:ext cx="365760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657600" cy="34747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CSV or 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1901952"/>
            <a:ext cx="365760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657600" cy="3474720"/>
          </a:xfrm>
          <a:prstGeom prst="roundRect">
            <a:avLst/>
          </a:prstGeom>
          <a:solidFill>
            <a:srgbClr val="10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Model scores each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901952"/>
            <a:ext cx="365760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79" y="1828800"/>
            <a:ext cx="3657600" cy="3474720"/>
          </a:xfrm>
          <a:prstGeom prst="roundRect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19659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37744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Normal / Review / Fraud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Traffic?light risk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" y="2359152"/>
            <a:ext cx="3200400" cy="292608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2926080"/>
          </a:xfrm>
          <a:prstGeom prst="roundRect">
            <a:avLst/>
          </a:prstGeom>
          <a:solidFill>
            <a:srgbClr val="103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Normal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3712" y="2359152"/>
            <a:ext cx="3200400" cy="292608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2286000"/>
            <a:ext cx="3200400" cy="2926080"/>
          </a:xfrm>
          <a:prstGeom prst="roundRect">
            <a:avLst/>
          </a:prstGeom>
          <a:solidFill>
            <a:srgbClr val="4E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4231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Yellow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3464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2359152"/>
            <a:ext cx="3200400" cy="292608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200400" cy="2926080"/>
          </a:xfrm>
          <a:prstGeom prst="roundRect">
            <a:avLst/>
          </a:prstGeom>
          <a:solidFill>
            <a:srgbClr val="4E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42316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834640"/>
            <a:ext cx="2834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Fraud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How the model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ABEDC"/>
                </a:solidFill>
              </a:defRPr>
            </a:pPr>
            <a:r>
              <a:t>We look for risky patterns: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" y="2084832"/>
            <a:ext cx="10972800" cy="329184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972800" cy="32918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? Very high amount</a:t>
            </a:r>
            <a:br/>
            <a:r>
              <a:t>? Too many transactions quickly</a:t>
            </a:r>
            <a:br/>
            <a:r>
              <a:t>? High?risk country</a:t>
            </a:r>
            <a:br/>
            <a:r>
              <a:t>? Blacklist match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Visuals help us understand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" y="1993392"/>
            <a:ext cx="548640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486400" cy="3474720"/>
          </a:xfrm>
          <a:prstGeom prst="roundRect">
            <a:avLst/>
          </a:prstGeom>
          <a:solidFill>
            <a:srgbClr val="0C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Line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Shows risk trend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3952" y="1993392"/>
            <a:ext cx="530352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5303520" cy="3474720"/>
          </a:xfrm>
          <a:prstGeom prst="roundRect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Bars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9377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Scored vs Errors vs Alerts</a:t>
            </a:r>
          </a:p>
        </p:txBody>
      </p:sp>
      <p:pic>
        <p:nvPicPr>
          <p:cNvPr id="11" name="Picture 10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54864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Visuals page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" y="1901952"/>
            <a:ext cx="10972800" cy="384048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972800" cy="384048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A focused page for charts, summary and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Insight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" y="1901952"/>
            <a:ext cx="10789920" cy="365760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789920" cy="3657600"/>
          </a:xfrm>
          <a:prstGeom prst="roundRect">
            <a:avLst/>
          </a:prstGeom>
          <a:solidFill>
            <a:srgbClr val="0A2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Scored rate, error rate, and fraud rate shown in one box.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Admin vs user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" y="2176272"/>
            <a:ext cx="5303520" cy="329184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303520" cy="32918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40279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493775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Uploads, views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176272"/>
            <a:ext cx="5303520" cy="329184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2103120"/>
            <a:ext cx="5303520" cy="3291840"/>
          </a:xfrm>
          <a:prstGeom prst="round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40279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651760"/>
            <a:ext cx="493775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Manages users and roles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Admin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" y="2084832"/>
            <a:ext cx="1097280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972800" cy="34747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Search users, change roles, deactivate, reset passwords.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Password reset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" y="1901952"/>
            <a:ext cx="347472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34747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User asks for reset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1901952"/>
            <a:ext cx="347472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74720" cy="3474720"/>
          </a:xfrm>
          <a:prstGeom prst="roundRect">
            <a:avLst/>
          </a:prstGeom>
          <a:solidFill>
            <a:srgbClr val="10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Reset link 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901952"/>
            <a:ext cx="347472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3474720"/>
          </a:xfrm>
          <a:prstGeom prst="roundRect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F0FF"/>
                </a:solidFill>
              </a:defRPr>
            </a:pPr>
            <a:r>
              <a:t>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New password 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Safety checks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" y="2084832"/>
            <a:ext cx="1097280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972800" cy="34747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? CSRF protection</a:t>
            </a:r>
            <a:br/>
            <a:r>
              <a:t>? Email verification</a:t>
            </a:r>
            <a:br/>
            <a:r>
              <a:t>? Admin?only access</a:t>
            </a:r>
          </a:p>
        </p:txBody>
      </p:sp>
      <p:pic>
        <p:nvPicPr>
          <p:cNvPr id="6" name="Picture 5" descr="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54864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Demo in 5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" y="1810512"/>
            <a:ext cx="10972800" cy="7315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972800" cy="7315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6070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1. 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724912"/>
            <a:ext cx="10972800" cy="7315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972800" cy="7315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6070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2. Upload 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3639312"/>
            <a:ext cx="10972800" cy="7315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972800" cy="7315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6070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3. View 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4553712"/>
            <a:ext cx="10972800" cy="7315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972800" cy="7315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106070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4. Open visuals 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5468112"/>
            <a:ext cx="10972800" cy="7315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10972800" cy="7315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6070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5. Download snapshot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What we 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" y="1993392"/>
            <a:ext cx="1097280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972800" cy="3474720"/>
          </a:xfrm>
          <a:prstGeom prst="roundRect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Fast scoring, clear visuals, and easy investigation.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E9F0FF"/>
                </a:solidFill>
              </a:defRPr>
            </a:pPr>
            <a:r>
              <a:t>Future ideas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4672" y="2084832"/>
            <a:ext cx="10972800" cy="3474720"/>
          </a:xfrm>
          <a:prstGeom prst="roundRect">
            <a:avLst/>
          </a:prstGeom>
          <a:solidFill>
            <a:srgbClr val="0A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972800" cy="347472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EDC"/>
                </a:solidFill>
              </a:defRPr>
            </a:pPr>
            <a:r>
              <a:t>? Smarter PDF parsing</a:t>
            </a:r>
            <a:br/>
            <a:r>
              <a:t>? More charts</a:t>
            </a:r>
            <a:br/>
            <a:r>
              <a:t>? Automatic alerts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9F0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AABEDC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EDC"/>
                </a:solidFill>
              </a:defRPr>
            </a:pPr>
            <a:r>
              <a:t>Market Fraud Detection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9F0FF"/>
                </a:solidFill>
              </a:defRPr>
            </a:pPr>
            <a:r>
              <a:t>Quick Q&amp;A (one?line answers)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10789920" cy="4206240"/>
          </a:xfrm>
          <a:prstGeom prst="roundRect">
            <a:avLst/>
          </a:prstGeom>
          <a:solidFill>
            <a:srgbClr val="12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What does the system do? ? It finds risky transactions fast.</a:t>
            </a:r>
          </a:p>
          <a:p>
            <a:pPr>
              <a:defRPr sz="1800">
                <a:solidFill>
                  <a:srgbClr val="C8DCFF"/>
                </a:solidFill>
              </a:defRPr>
            </a:pPr>
            <a:r>
              <a:t>How does it decide? ? It scores patterns in the data.</a:t>
            </a:r>
          </a:p>
          <a:p>
            <a:pPr>
              <a:defRPr sz="1800">
                <a:solidFill>
                  <a:srgbClr val="C8DCFF"/>
                </a:solidFill>
              </a:defRPr>
            </a:pPr>
            <a:r>
              <a:t>What do we upload? ? CSV or PDF tables.</a:t>
            </a:r>
          </a:p>
          <a:p>
            <a:pPr>
              <a:defRPr sz="1800">
                <a:solidFill>
                  <a:srgbClr val="C8DCFF"/>
                </a:solidFill>
              </a:defRPr>
            </a:pPr>
            <a:r>
              <a:t>What do we see? ? Clear charts and alerts.</a:t>
            </a:r>
          </a:p>
          <a:p>
            <a:pPr>
              <a:defRPr sz="1800">
                <a:solidFill>
                  <a:srgbClr val="C8DCFF"/>
                </a:solidFill>
              </a:defRPr>
            </a:pPr>
            <a:r>
              <a:t>Who can manage users? ? Only the admin.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